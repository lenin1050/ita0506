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63" r:id="rId3"/>
    <p:sldId id="256" r:id="rId4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0.png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0" Type="http://schemas.openxmlformats.org/officeDocument/2006/relationships/notesSlide" Target="../notesSlides/notesSlide6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26" name="Picture 2" descr="SIMATS ENGINEERING —BIOTECHNOLOGY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736" y="170816"/>
            <a:ext cx="11480759" cy="1477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ubtitle 2"/>
          <p:cNvSpPr txBox="1"/>
          <p:nvPr/>
        </p:nvSpPr>
        <p:spPr>
          <a:xfrm>
            <a:off x="744196" y="5277491"/>
            <a:ext cx="4857588" cy="11590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2200" dirty="0">
                <a:latin typeface="Times New Roman" panose="02020603050405020304" charset="0"/>
                <a:cs typeface="Times New Roman" panose="02020603050405020304" charset="0"/>
              </a:rPr>
              <a:t>Guided by  :</a:t>
            </a:r>
            <a:endParaRPr lang="en-GB" sz="2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GB" sz="2200" dirty="0">
                <a:latin typeface="Times New Roman" panose="02020603050405020304" charset="0"/>
                <a:cs typeface="Times New Roman" panose="02020603050405020304" charset="0"/>
              </a:rPr>
              <a:t>Dr . R . C . Jeni Gracia</a:t>
            </a:r>
            <a:endParaRPr lang="en-GB" sz="2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GB" sz="2200" dirty="0">
                <a:latin typeface="Times New Roman" panose="02020603050405020304" charset="0"/>
                <a:cs typeface="Times New Roman" panose="02020603050405020304" charset="0"/>
              </a:rPr>
              <a:t>     </a:t>
            </a:r>
            <a:endParaRPr lang="en-GB" sz="2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GB" sz="2200" dirty="0">
                <a:latin typeface="Times New Roman" panose="02020603050405020304" charset="0"/>
                <a:cs typeface="Times New Roman" panose="02020603050405020304" charset="0"/>
              </a:rPr>
              <a:t>    </a:t>
            </a:r>
            <a:endParaRPr lang="en-GB" sz="2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GB" sz="22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en-GB" sz="2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Subtitle 2"/>
          <p:cNvSpPr>
            <a:spLocks noGrp="1"/>
          </p:cNvSpPr>
          <p:nvPr/>
        </p:nvSpPr>
        <p:spPr>
          <a:xfrm>
            <a:off x="6962792" y="5277491"/>
            <a:ext cx="5240072" cy="10797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dirty="0">
                <a:latin typeface="Times New Roman" panose="02020603050405020304" charset="0"/>
                <a:cs typeface="Times New Roman" panose="02020603050405020304" charset="0"/>
              </a:rPr>
              <a:t>Presented by	:</a:t>
            </a:r>
            <a:endParaRPr lang="en-GB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dirty="0">
                <a:latin typeface="Times New Roman" panose="02020603050405020304" charset="0"/>
                <a:cs typeface="Times New Roman" panose="02020603050405020304" charset="0"/>
              </a:rPr>
              <a:t>LENIN K</a:t>
            </a:r>
            <a:r>
              <a:rPr lang="en-GB" dirty="0">
                <a:latin typeface="Times New Roman" panose="02020603050405020304" charset="0"/>
                <a:cs typeface="Times New Roman" panose="02020603050405020304" charset="0"/>
              </a:rPr>
              <a:t> – (192</a:t>
            </a:r>
            <a:r>
              <a:rPr lang="en-US" altLang="en-GB" dirty="0">
                <a:latin typeface="Times New Roman" panose="02020603050405020304" charset="0"/>
                <a:cs typeface="Times New Roman" panose="02020603050405020304" charset="0"/>
              </a:rPr>
              <a:t>321050</a:t>
            </a:r>
            <a:r>
              <a:rPr lang="en-GB" dirty="0">
                <a:latin typeface="Times New Roman" panose="02020603050405020304" charset="0"/>
                <a:cs typeface="Times New Roman" panose="02020603050405020304" charset="0"/>
              </a:rPr>
              <a:t>)</a:t>
            </a:r>
            <a:endParaRPr lang="en-GB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IN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330835" y="1979295"/>
            <a:ext cx="11871960" cy="14490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en-US" sz="3600" b="1">
                <a:latin typeface="Times New Roman" panose="02020603050405020304" charset="0"/>
                <a:cs typeface="Times New Roman" panose="02020603050405020304" charset="0"/>
              </a:rPr>
              <a:t>Comparison analog and digital images by explaining their characteristics, advantages, limitations, and application </a:t>
            </a:r>
            <a:endParaRPr lang="en-US" altLang="en-US" sz="36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3811905" y="3759835"/>
            <a:ext cx="43154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ITA0506-COMPUTER VISION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00A8C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IMAGE PROCESSING FUNDAMENTALS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86868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Analog vs Digital Images</a:t>
            </a:r>
            <a:endParaRPr lang="en-US" sz="4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Two ways of capturing, representing, and processing visual information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58368" y="2898648"/>
            <a:ext cx="100584" cy="100584"/>
          </a:xfrm>
          <a:prstGeom prst="ellipse">
            <a:avLst/>
          </a:prstGeom>
          <a:solidFill>
            <a:srgbClr val="E8871E"/>
          </a:solidFill>
        </p:spPr>
      </p:sp>
      <p:sp>
        <p:nvSpPr>
          <p:cNvPr id="6" name="Text 4"/>
          <p:cNvSpPr/>
          <p:nvPr/>
        </p:nvSpPr>
        <p:spPr>
          <a:xfrm>
            <a:off x="914400" y="2788920"/>
            <a:ext cx="740664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Every image — a photograph, an X-ray, a video frame — exists first as either a continuous (analog) or discrete (digital) signal.</a:t>
            </a:r>
            <a:endParaRPr lang="en-US" sz="2000" dirty="0">
              <a:solidFill>
                <a:srgbClr val="FFFFFF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58368" y="4012946"/>
            <a:ext cx="100584" cy="100584"/>
          </a:xfrm>
          <a:prstGeom prst="ellipse">
            <a:avLst/>
          </a:prstGeom>
          <a:solidFill>
            <a:srgbClr val="00A8CC"/>
          </a:solidFill>
        </p:spPr>
      </p:sp>
      <p:sp>
        <p:nvSpPr>
          <p:cNvPr id="8" name="Text 6"/>
          <p:cNvSpPr/>
          <p:nvPr/>
        </p:nvSpPr>
        <p:spPr>
          <a:xfrm>
            <a:off x="914400" y="3904488"/>
            <a:ext cx="740664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The two forms differ fundamentally in how they capture, store, process, and preserve visual detail.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58368" y="4974844"/>
            <a:ext cx="100584" cy="100584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10" name="Text 8"/>
          <p:cNvSpPr/>
          <p:nvPr/>
        </p:nvSpPr>
        <p:spPr>
          <a:xfrm>
            <a:off x="914400" y="4826381"/>
            <a:ext cx="740664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This presentation compares their characteristics, strengths, limitations, and real-world applications.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9189720" y="2331720"/>
            <a:ext cx="2331720" cy="2331720"/>
          </a:xfrm>
          <a:prstGeom prst="ellipse">
            <a:avLst/>
          </a:prstGeom>
          <a:solidFill>
            <a:srgbClr val="263876"/>
          </a:solidFill>
        </p:spPr>
      </p:sp>
      <p:sp>
        <p:nvSpPr>
          <p:cNvPr id="12" name="Shape 10"/>
          <p:cNvSpPr/>
          <p:nvPr/>
        </p:nvSpPr>
        <p:spPr>
          <a:xfrm>
            <a:off x="8732520" y="2880360"/>
            <a:ext cx="1417320" cy="1417320"/>
          </a:xfrm>
          <a:prstGeom prst="ellipse">
            <a:avLst/>
          </a:prstGeom>
          <a:solidFill>
            <a:srgbClr val="E8871E"/>
          </a:solidFill>
        </p:spPr>
      </p:sp>
      <p:pic>
        <p:nvPicPr>
          <p:cNvPr id="13" name="Image 0" descr="/home/claude/analog-digital/icon_wav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6772" y="3064612"/>
            <a:ext cx="1048817" cy="1048817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10195560" y="4160520"/>
            <a:ext cx="1417320" cy="1417320"/>
          </a:xfrm>
          <a:prstGeom prst="ellipse">
            <a:avLst/>
          </a:prstGeom>
          <a:solidFill>
            <a:srgbClr val="00A8CC"/>
          </a:solidFill>
        </p:spPr>
      </p:sp>
      <p:pic>
        <p:nvPicPr>
          <p:cNvPr id="15" name="Image 1" descr="/home/claude/analog-digital/icon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9812" y="4344772"/>
            <a:ext cx="1048817" cy="104881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FA3C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Lenin K   |   B.Tech Information Technology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1612880" y="652881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C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E8871E"/>
          </a:solidFill>
        </p:spPr>
      </p:sp>
      <p:pic>
        <p:nvPicPr>
          <p:cNvPr id="3" name="Image 0" descr="/home/claude/analog-digital/icon_wav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681" y="603961"/>
            <a:ext cx="575158" cy="5751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6400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Analog Image</a:t>
            </a:r>
            <a:endParaRPr lang="en-US" sz="3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0241280" y="64008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kern="0" spc="200" dirty="0">
                <a:solidFill>
                  <a:srgbClr val="E887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ANALOG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11091672" cy="960120"/>
          </a:xfrm>
          <a:prstGeom prst="rect">
            <a:avLst/>
          </a:prstGeom>
          <a:solidFill>
            <a:srgbClr val="F6F8FC"/>
          </a:solidFill>
        </p:spPr>
      </p:sp>
      <p:sp>
        <p:nvSpPr>
          <p:cNvPr id="7" name="Text 4"/>
          <p:cNvSpPr/>
          <p:nvPr/>
        </p:nvSpPr>
        <p:spPr>
          <a:xfrm>
            <a:off x="822960" y="1508760"/>
            <a:ext cx="1051560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Definition:  </a:t>
            </a:r>
            <a:r>
              <a:rPr lang="en-US" sz="2000" dirty="0">
                <a:solidFill>
                  <a:srgbClr val="5A6B87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A continuous representation of a scene in which intensity and color vary smoothly across space and amplitude — with no fixed pixel grid or numeric limit.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48640" y="2788920"/>
            <a:ext cx="502920" cy="502920"/>
          </a:xfrm>
          <a:prstGeom prst="ellipse">
            <a:avLst/>
          </a:prstGeom>
          <a:solidFill>
            <a:srgbClr val="E8871E"/>
          </a:solidFill>
        </p:spPr>
      </p:sp>
      <p:sp>
        <p:nvSpPr>
          <p:cNvPr id="9" name="Text 6"/>
          <p:cNvSpPr/>
          <p:nvPr/>
        </p:nvSpPr>
        <p:spPr>
          <a:xfrm>
            <a:off x="548640" y="27889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207008" y="2752344"/>
            <a:ext cx="4690872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Continuous tone &amp; spatial variation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207008" y="3136392"/>
            <a:ext cx="4690872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5A6B87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Infinite gradations of brightness and color, with no discrete steps between values.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6263640" y="2788920"/>
            <a:ext cx="502920" cy="502920"/>
          </a:xfrm>
          <a:prstGeom prst="ellipse">
            <a:avLst/>
          </a:prstGeom>
          <a:solidFill>
            <a:srgbClr val="E8871E"/>
          </a:solidFill>
        </p:spPr>
      </p:sp>
      <p:sp>
        <p:nvSpPr>
          <p:cNvPr id="13" name="Text 10"/>
          <p:cNvSpPr/>
          <p:nvPr/>
        </p:nvSpPr>
        <p:spPr>
          <a:xfrm>
            <a:off x="6263640" y="27889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922008" y="2752344"/>
            <a:ext cx="4690872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Physical / electrical signal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922008" y="3136392"/>
            <a:ext cx="4690872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5A6B87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Represented as voltage, light intensity, or chemical density rather than numbers.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E8871E"/>
          </a:solidFill>
        </p:spPr>
      </p:sp>
      <p:sp>
        <p:nvSpPr>
          <p:cNvPr id="17" name="Text 14"/>
          <p:cNvSpPr/>
          <p:nvPr/>
        </p:nvSpPr>
        <p:spPr>
          <a:xfrm>
            <a:off x="548640" y="452628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207008" y="4489704"/>
            <a:ext cx="4690872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Stored on physical media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1207008" y="4873752"/>
            <a:ext cx="4690872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5A6B87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Captured on photographic film, magnetic tape, or paper — tied to a physical carrier.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6263640" y="4526280"/>
            <a:ext cx="502920" cy="502920"/>
          </a:xfrm>
          <a:prstGeom prst="ellipse">
            <a:avLst/>
          </a:prstGeom>
          <a:solidFill>
            <a:srgbClr val="E8871E"/>
          </a:solidFill>
        </p:spPr>
      </p:sp>
      <p:sp>
        <p:nvSpPr>
          <p:cNvPr id="21" name="Text 18"/>
          <p:cNvSpPr/>
          <p:nvPr/>
        </p:nvSpPr>
        <p:spPr>
          <a:xfrm>
            <a:off x="6263640" y="452628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922008" y="4489704"/>
            <a:ext cx="4690872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Resolution limited only by media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922008" y="4873752"/>
            <a:ext cx="4690872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5A6B87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Detail is bounded by optics and material quality, not by a fixed pixel count.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AA7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Lenin K   |   B.Tech Information Technology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1612880" y="652881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7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00A8CC"/>
          </a:solidFill>
        </p:spPr>
      </p:sp>
      <p:pic>
        <p:nvPicPr>
          <p:cNvPr id="3" name="Image 0" descr="/home/claude/analog-digital/icon_gri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681" y="603961"/>
            <a:ext cx="575158" cy="5751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6400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Digital Image</a:t>
            </a:r>
            <a:endParaRPr lang="en-US" sz="3200" b="1" dirty="0">
              <a:solidFill>
                <a:srgbClr val="1E2761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0241280" y="64008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kern="0" spc="200" dirty="0">
                <a:solidFill>
                  <a:srgbClr val="00A8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DIGITAL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11091672" cy="960120"/>
          </a:xfrm>
          <a:prstGeom prst="rect">
            <a:avLst/>
          </a:prstGeom>
          <a:solidFill>
            <a:srgbClr val="F6F8FC"/>
          </a:solidFill>
        </p:spPr>
      </p:sp>
      <p:sp>
        <p:nvSpPr>
          <p:cNvPr id="7" name="Text 4"/>
          <p:cNvSpPr/>
          <p:nvPr/>
        </p:nvSpPr>
        <p:spPr>
          <a:xfrm>
            <a:off x="822960" y="1508760"/>
            <a:ext cx="1051560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Definition:  </a:t>
            </a:r>
            <a:r>
              <a:rPr lang="en-US" sz="2000" dirty="0">
                <a:solidFill>
                  <a:srgbClr val="5A6B87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A discrete representation formed by sampling a scene into a finite grid of pixels, then quantizing each pixel's intensity into a fixed set of numeric values.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48640" y="2788920"/>
            <a:ext cx="502920" cy="502920"/>
          </a:xfrm>
          <a:prstGeom prst="ellipse">
            <a:avLst/>
          </a:prstGeom>
          <a:solidFill>
            <a:srgbClr val="00A8CC"/>
          </a:solidFill>
        </p:spPr>
      </p:sp>
      <p:sp>
        <p:nvSpPr>
          <p:cNvPr id="9" name="Text 6"/>
          <p:cNvSpPr/>
          <p:nvPr/>
        </p:nvSpPr>
        <p:spPr>
          <a:xfrm>
            <a:off x="548640" y="27889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207008" y="2752344"/>
            <a:ext cx="4690872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Finite pixel matrix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207008" y="3136392"/>
            <a:ext cx="4690872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5A6B87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Composed of a fixed grid of rows and columns — each cell is one pixel.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6263640" y="2788920"/>
            <a:ext cx="502920" cy="502920"/>
          </a:xfrm>
          <a:prstGeom prst="ellipse">
            <a:avLst/>
          </a:prstGeom>
          <a:solidFill>
            <a:srgbClr val="00A8CC"/>
          </a:solidFill>
        </p:spPr>
      </p:sp>
      <p:sp>
        <p:nvSpPr>
          <p:cNvPr id="13" name="Text 10"/>
          <p:cNvSpPr/>
          <p:nvPr/>
        </p:nvSpPr>
        <p:spPr>
          <a:xfrm>
            <a:off x="6263640" y="27889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922008" y="2752344"/>
            <a:ext cx="4690872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Quantized intensity values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922008" y="3136392"/>
            <a:ext cx="4690872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5A6B87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Each pixel holds a numeric value at a set bit depth, e.g. 8-bit or 24-bit RGB.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00A8CC"/>
          </a:solidFill>
        </p:spPr>
      </p:sp>
      <p:sp>
        <p:nvSpPr>
          <p:cNvPr id="17" name="Text 14"/>
          <p:cNvSpPr/>
          <p:nvPr/>
        </p:nvSpPr>
        <p:spPr>
          <a:xfrm>
            <a:off x="548640" y="452628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207008" y="4489704"/>
            <a:ext cx="4690872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Defined by sampling &amp; quantization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1207008" y="4873752"/>
            <a:ext cx="4690872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5A6B87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Resolution and color depth are governed by the sampling rate and quantization levels used.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6263640" y="4526280"/>
            <a:ext cx="502920" cy="502920"/>
          </a:xfrm>
          <a:prstGeom prst="ellipse">
            <a:avLst/>
          </a:prstGeom>
          <a:solidFill>
            <a:srgbClr val="00A8CC"/>
          </a:solidFill>
        </p:spPr>
      </p:sp>
      <p:sp>
        <p:nvSpPr>
          <p:cNvPr id="21" name="Text 18"/>
          <p:cNvSpPr/>
          <p:nvPr/>
        </p:nvSpPr>
        <p:spPr>
          <a:xfrm>
            <a:off x="6263640" y="452628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922008" y="4489704"/>
            <a:ext cx="4690872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Stored as binary data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922008" y="4873752"/>
            <a:ext cx="4690872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5A6B87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Saved as files (JPEG, PNG, TIFF) that computers can copy, edit, and transmit losslessly.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AA7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Lenin K   |   B.Tech Information Technology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1612880" y="652881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7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Comparison Table</a:t>
            </a:r>
            <a:endParaRPr lang="en-US" sz="3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6B87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Analog vs digital image characteristics, side by side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548640" y="1508760"/>
          <a:ext cx="11091545" cy="4502150"/>
        </p:xfrm>
        <a:graphic>
          <a:graphicData uri="http://schemas.openxmlformats.org/drawingml/2006/table">
            <a:tbl>
              <a:tblPr/>
              <a:tblGrid>
                <a:gridCol w="2834640"/>
                <a:gridCol w="4114800"/>
                <a:gridCol w="4142232"/>
              </a:tblGrid>
              <a:tr h="533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Aspect</a:t>
                      </a:r>
                      <a:endParaRPr lang="en-US" sz="2000" b="1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D9A6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Analog Image</a:t>
                      </a:r>
                      <a:endParaRPr lang="en-US" sz="2000" b="1" dirty="0">
                        <a:solidFill>
                          <a:srgbClr val="FFD9A6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BEEFFA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Digital Image</a:t>
                      </a:r>
                      <a:endParaRPr lang="en-US" sz="2000" b="1" dirty="0">
                        <a:solidFill>
                          <a:srgbClr val="BEEFFA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1E2761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Representation</a:t>
                      </a:r>
                      <a:endParaRPr lang="en-US" sz="2000" b="1" dirty="0">
                        <a:solidFill>
                          <a:srgbClr val="1E2761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5A6B87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Continuous signal</a:t>
                      </a:r>
                      <a:endParaRPr lang="en-US" sz="2000" dirty="0">
                        <a:solidFill>
                          <a:srgbClr val="5A6B87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5A6B87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Discrete pixel matrix</a:t>
                      </a:r>
                      <a:endParaRPr lang="en-US" sz="2000" dirty="0">
                        <a:solidFill>
                          <a:srgbClr val="5A6B87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1E2761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Storage medium</a:t>
                      </a:r>
                      <a:endParaRPr lang="en-US" sz="2000" b="1" dirty="0">
                        <a:solidFill>
                          <a:srgbClr val="1E2761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5A6B87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Film, tape, paper</a:t>
                      </a:r>
                      <a:endParaRPr lang="en-US" sz="2000" dirty="0">
                        <a:solidFill>
                          <a:srgbClr val="5A6B87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5A6B87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Memory, disk, cloud</a:t>
                      </a:r>
                      <a:endParaRPr lang="en-US" sz="2000" dirty="0">
                        <a:solidFill>
                          <a:srgbClr val="5A6B87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1E2761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Quality over time</a:t>
                      </a:r>
                      <a:endParaRPr lang="en-US" sz="2000" b="1" dirty="0">
                        <a:solidFill>
                          <a:srgbClr val="1E2761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5A6B87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Degrades — fading, noise</a:t>
                      </a:r>
                      <a:endParaRPr lang="en-US" sz="2000" dirty="0">
                        <a:solidFill>
                          <a:srgbClr val="5A6B87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5A6B87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No degradation — lossless copies</a:t>
                      </a:r>
                      <a:endParaRPr lang="en-US" sz="2000" dirty="0">
                        <a:solidFill>
                          <a:srgbClr val="5A6B87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1E2761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Processing</a:t>
                      </a:r>
                      <a:endParaRPr lang="en-US" sz="2000" b="1" dirty="0">
                        <a:solidFill>
                          <a:srgbClr val="1E2761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5A6B87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Difficult, needs conversion</a:t>
                      </a:r>
                      <a:endParaRPr lang="en-US" sz="2000" dirty="0">
                        <a:solidFill>
                          <a:srgbClr val="5A6B87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5A6B87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Easy via software &amp; algorithms</a:t>
                      </a:r>
                      <a:endParaRPr lang="en-US" sz="2000" dirty="0">
                        <a:solidFill>
                          <a:srgbClr val="5A6B87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1E2761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Transmission</a:t>
                      </a:r>
                      <a:endParaRPr lang="en-US" sz="2000" b="1" dirty="0">
                        <a:solidFill>
                          <a:srgbClr val="1E2761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5A6B87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Susceptible to signal noise</a:t>
                      </a:r>
                      <a:endParaRPr lang="en-US" sz="2000" dirty="0">
                        <a:solidFill>
                          <a:srgbClr val="5A6B87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5A6B87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Robust, error-correctable</a:t>
                      </a:r>
                      <a:endParaRPr lang="en-US" sz="2000" dirty="0">
                        <a:solidFill>
                          <a:srgbClr val="5A6B87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1E2761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Resolution limit</a:t>
                      </a:r>
                      <a:endParaRPr lang="en-US" sz="2000" b="1" dirty="0">
                        <a:solidFill>
                          <a:srgbClr val="1E2761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5A6B87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Bounded by media &amp; optics</a:t>
                      </a:r>
                      <a:endParaRPr lang="en-US" sz="2000" dirty="0">
                        <a:solidFill>
                          <a:srgbClr val="5A6B87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5A6B87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Bounded by sensor &amp; pixel count</a:t>
                      </a:r>
                      <a:endParaRPr lang="en-US" sz="2000" dirty="0">
                        <a:solidFill>
                          <a:srgbClr val="5A6B87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1E2761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Typical examples</a:t>
                      </a:r>
                      <a:endParaRPr lang="en-US" sz="2000" b="1" dirty="0">
                        <a:solidFill>
                          <a:srgbClr val="1E2761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5A6B87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X-ray film, analog TV, oscilloscope</a:t>
                      </a:r>
                      <a:endParaRPr lang="en-US" sz="2000" dirty="0">
                        <a:solidFill>
                          <a:srgbClr val="5A6B87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5A6B87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JPEG/PNG photos, digital scans</a:t>
                      </a:r>
                      <a:endParaRPr lang="en-US" sz="2000" dirty="0">
                        <a:solidFill>
                          <a:srgbClr val="5A6B87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AA7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Lenin K   |   B.Tech Information Technology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612880" y="652881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7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Advantages &amp; Disadvantages</a:t>
            </a:r>
            <a:endParaRPr lang="en-US" sz="3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440680" cy="5074920"/>
          </a:xfrm>
          <a:prstGeom prst="rect">
            <a:avLst/>
          </a:prstGeom>
          <a:solidFill>
            <a:srgbClr val="FCF1E3"/>
          </a:solidFill>
        </p:spPr>
      </p:sp>
      <p:sp>
        <p:nvSpPr>
          <p:cNvPr id="4" name="Shape 2"/>
          <p:cNvSpPr/>
          <p:nvPr/>
        </p:nvSpPr>
        <p:spPr>
          <a:xfrm>
            <a:off x="548640" y="1234440"/>
            <a:ext cx="5440680" cy="594360"/>
          </a:xfrm>
          <a:prstGeom prst="rect">
            <a:avLst/>
          </a:prstGeom>
          <a:solidFill>
            <a:srgbClr val="E8871E"/>
          </a:solidFill>
        </p:spPr>
      </p:sp>
      <p:sp>
        <p:nvSpPr>
          <p:cNvPr id="5" name="Text 3"/>
          <p:cNvSpPr/>
          <p:nvPr/>
        </p:nvSpPr>
        <p:spPr>
          <a:xfrm>
            <a:off x="822960" y="1234440"/>
            <a:ext cx="48920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Analog Image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993392"/>
            <a:ext cx="4892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50" dirty="0">
                <a:solidFill>
                  <a:srgbClr val="E8871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ADVANTAGES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2304288"/>
            <a:ext cx="4892040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✓"/>
            </a:pPr>
            <a:r>
              <a:rPr lang="en-US" sz="1600" dirty="0">
                <a:solidFill>
                  <a:srgbClr val="1E276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Naturally continuous tone — no quantization artifacts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✓"/>
            </a:pPr>
            <a:r>
              <a:rPr lang="en-US" sz="1600" dirty="0">
                <a:solidFill>
                  <a:srgbClr val="1E276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High potential resolution, limited only by physical media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✓"/>
            </a:pPr>
            <a:r>
              <a:rPr lang="en-US" sz="1600" dirty="0">
                <a:solidFill>
                  <a:srgbClr val="1E276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No dependency on electronic processing hardware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3886200"/>
            <a:ext cx="4892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50" dirty="0">
                <a:solidFill>
                  <a:srgbClr val="5A6B87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DISADVANTAGES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" y="4197096"/>
            <a:ext cx="4892040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✗"/>
            </a:pPr>
            <a:r>
              <a:rPr lang="en-US" sz="1600" dirty="0">
                <a:solidFill>
                  <a:srgbClr val="1E276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Degrades with time, copying, and environmental exposure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✗"/>
            </a:pPr>
            <a:r>
              <a:rPr lang="en-US" sz="1600" dirty="0">
                <a:solidFill>
                  <a:srgbClr val="1E276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Difficult and costly to edit, duplicate, or transmit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✗"/>
            </a:pPr>
            <a:r>
              <a:rPr lang="en-US" sz="1600" dirty="0">
                <a:solidFill>
                  <a:srgbClr val="1E276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Susceptible to noise and signal interference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199632" y="1234440"/>
            <a:ext cx="5440680" cy="5074920"/>
          </a:xfrm>
          <a:prstGeom prst="rect">
            <a:avLst/>
          </a:prstGeom>
          <a:solidFill>
            <a:srgbClr val="E7F6FA"/>
          </a:solidFill>
        </p:spPr>
        <p:txBody>
          <a:bodyPr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199632" y="1234440"/>
            <a:ext cx="5440680" cy="594360"/>
          </a:xfrm>
          <a:prstGeom prst="rect">
            <a:avLst/>
          </a:prstGeom>
          <a:solidFill>
            <a:srgbClr val="00A8CC"/>
          </a:solidFill>
        </p:spPr>
      </p:sp>
      <p:sp>
        <p:nvSpPr>
          <p:cNvPr id="12" name="Text 10"/>
          <p:cNvSpPr/>
          <p:nvPr/>
        </p:nvSpPr>
        <p:spPr>
          <a:xfrm>
            <a:off x="6473952" y="1234440"/>
            <a:ext cx="48920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Digital Image</a:t>
            </a:r>
            <a:endParaRPr lang="en-US" sz="1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73952" y="1993392"/>
            <a:ext cx="4892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50" dirty="0">
                <a:solidFill>
                  <a:srgbClr val="00A8C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ADVANTAGES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73952" y="2304288"/>
            <a:ext cx="4892040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✓"/>
            </a:pPr>
            <a:r>
              <a:rPr lang="en-US" sz="1600" dirty="0">
                <a:solidFill>
                  <a:srgbClr val="1E276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Easy to store, copy, edit, and transmit without loss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✓"/>
            </a:pPr>
            <a:r>
              <a:rPr lang="en-US" sz="1600" dirty="0">
                <a:solidFill>
                  <a:srgbClr val="1E276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Compatible with computer processing, AI &amp; ML pipelines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✓"/>
            </a:pPr>
            <a:r>
              <a:rPr lang="en-US" sz="1600" dirty="0">
                <a:solidFill>
                  <a:srgbClr val="1E276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Efficient compression and durable long-term storage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73952" y="3886200"/>
            <a:ext cx="4892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50" dirty="0">
                <a:solidFill>
                  <a:srgbClr val="5A6B87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DISADVANTAGES</a:t>
            </a:r>
            <a:endParaRPr lang="en-US" b="1" kern="0" spc="150" dirty="0">
              <a:solidFill>
                <a:srgbClr val="5A6B87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73952" y="4197096"/>
            <a:ext cx="4892040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✗"/>
            </a:pPr>
            <a:r>
              <a:rPr lang="en-US" sz="1600" dirty="0">
                <a:solidFill>
                  <a:srgbClr val="1E276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Quality bounded by sampling resolution &amp; quantization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✗"/>
            </a:pPr>
            <a:r>
              <a:rPr lang="en-US" sz="1600" dirty="0">
                <a:solidFill>
                  <a:srgbClr val="1E276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Requires electronic devices, storage, and power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✗"/>
            </a:pPr>
            <a:r>
              <a:rPr lang="en-US" sz="1600" dirty="0">
                <a:solidFill>
                  <a:srgbClr val="1E276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Prone to compression artifacts in lossy formats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AA7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Lenin K   |   B.Tech Information Technology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612880" y="652881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7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Applications</a:t>
            </a:r>
            <a:endParaRPr lang="en-US" sz="3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5440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871E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Analog</a:t>
            </a:r>
            <a:endParaRPr lang="en-US" sz="1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658368" cy="658368"/>
          </a:xfrm>
          <a:prstGeom prst="ellipse">
            <a:avLst/>
          </a:prstGeom>
          <a:solidFill>
            <a:srgbClr val="E8871E"/>
          </a:solidFill>
        </p:spPr>
      </p:sp>
      <p:pic>
        <p:nvPicPr>
          <p:cNvPr id="5" name="Image 0" descr="/home/claude/analog-digital/icon_fil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228" y="1960108"/>
            <a:ext cx="487192" cy="4871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89888" y="1856232"/>
            <a:ext cx="4599432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Traditional photography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389888" y="2167128"/>
            <a:ext cx="4599432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5A6B87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Film cameras capturing images on light-sensitive chemical film.</a:t>
            </a:r>
            <a:endParaRPr lang="en-US" sz="1600" dirty="0">
              <a:solidFill>
                <a:srgbClr val="5A6B87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48640" y="2953512"/>
            <a:ext cx="658368" cy="658368"/>
          </a:xfrm>
          <a:prstGeom prst="ellipse">
            <a:avLst/>
          </a:prstGeom>
          <a:solidFill>
            <a:srgbClr val="E8871E"/>
          </a:solidFill>
        </p:spPr>
      </p:sp>
      <p:pic>
        <p:nvPicPr>
          <p:cNvPr id="9" name="Image 1" descr="/home/claude/analog-digital/icon_t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228" y="3039100"/>
            <a:ext cx="487192" cy="4871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89888" y="2935224"/>
            <a:ext cx="4599432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Analog television</a:t>
            </a:r>
            <a:endParaRPr lang="en-US" b="1" dirty="0">
              <a:solidFill>
                <a:srgbClr val="1E2761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1389888" y="3246120"/>
            <a:ext cx="4599432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5A6B87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Broadcast video transmitted as a continuous electrical signal.</a:t>
            </a:r>
            <a:endParaRPr lang="en-US" sz="1600" dirty="0">
              <a:solidFill>
                <a:srgbClr val="5A6B87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548640" y="4032504"/>
            <a:ext cx="658368" cy="658368"/>
          </a:xfrm>
          <a:prstGeom prst="ellipse">
            <a:avLst/>
          </a:prstGeom>
          <a:solidFill>
            <a:srgbClr val="E8871E"/>
          </a:solidFill>
        </p:spPr>
      </p:sp>
      <p:pic>
        <p:nvPicPr>
          <p:cNvPr id="13" name="Image 2" descr="/home/claude/analog-digital/icon_hospi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228" y="4118092"/>
            <a:ext cx="487192" cy="48719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89888" y="4014216"/>
            <a:ext cx="4599432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Film-based X-ray radiography</a:t>
            </a:r>
            <a:endParaRPr lang="en-US" b="1" dirty="0">
              <a:solidFill>
                <a:srgbClr val="1E2761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1389888" y="4325112"/>
            <a:ext cx="4599432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5A6B87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Medical imaging exposed directly onto photographic film.</a:t>
            </a:r>
            <a:endParaRPr lang="en-US" sz="1600" dirty="0">
              <a:solidFill>
                <a:srgbClr val="5A6B87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548640" y="5111496"/>
            <a:ext cx="658368" cy="658368"/>
          </a:xfrm>
          <a:prstGeom prst="ellipse">
            <a:avLst/>
          </a:prstGeom>
          <a:solidFill>
            <a:srgbClr val="E8871E"/>
          </a:solidFill>
        </p:spPr>
      </p:sp>
      <p:pic>
        <p:nvPicPr>
          <p:cNvPr id="17" name="Image 3" descr="/home/claude/analog-digital/icon_wa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228" y="5197084"/>
            <a:ext cx="487192" cy="48719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89888" y="5093208"/>
            <a:ext cx="4599432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Oscilloscope displays</a:t>
            </a:r>
            <a:endParaRPr lang="en-US" b="1" dirty="0">
              <a:solidFill>
                <a:srgbClr val="1E2761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1389888" y="5404104"/>
            <a:ext cx="4599432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sz="1600" dirty="0">
                <a:solidFill>
                  <a:srgbClr val="5A6B87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Continuous waveform visualization of electrical signals.</a:t>
            </a:r>
            <a:endParaRPr lang="en-US" sz="1600" dirty="0">
              <a:solidFill>
                <a:srgbClr val="5A6B87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0" name="Text 14"/>
          <p:cNvSpPr/>
          <p:nvPr/>
        </p:nvSpPr>
        <p:spPr>
          <a:xfrm>
            <a:off x="6199632" y="1234440"/>
            <a:ext cx="5440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CC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Digital</a:t>
            </a:r>
            <a:endParaRPr lang="en-US" sz="1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" name="Shape 15"/>
          <p:cNvSpPr/>
          <p:nvPr/>
        </p:nvSpPr>
        <p:spPr>
          <a:xfrm>
            <a:off x="6199632" y="1874520"/>
            <a:ext cx="658368" cy="658368"/>
          </a:xfrm>
          <a:prstGeom prst="ellipse">
            <a:avLst/>
          </a:prstGeom>
          <a:solidFill>
            <a:srgbClr val="00A8CC"/>
          </a:solidFill>
        </p:spPr>
      </p:sp>
      <p:pic>
        <p:nvPicPr>
          <p:cNvPr id="22" name="Image 4" descr="/home/claude/analog-digital/icon_camer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5220" y="1960108"/>
            <a:ext cx="487192" cy="48719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040880" y="1856232"/>
            <a:ext cx="4599432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Digital cameras &amp; smartphones</a:t>
            </a:r>
            <a:endParaRPr lang="en-US" b="1" dirty="0">
              <a:solidFill>
                <a:srgbClr val="1E2761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4" name="Text 17"/>
          <p:cNvSpPr/>
          <p:nvPr/>
        </p:nvSpPr>
        <p:spPr>
          <a:xfrm>
            <a:off x="7040880" y="2167128"/>
            <a:ext cx="4599432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5A6B87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Sensors sample light into pixel arrays for instant, editable photos.</a:t>
            </a:r>
            <a:endParaRPr lang="en-US" sz="1600" dirty="0">
              <a:solidFill>
                <a:srgbClr val="5A6B87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5" name="Shape 18"/>
          <p:cNvSpPr/>
          <p:nvPr/>
        </p:nvSpPr>
        <p:spPr>
          <a:xfrm>
            <a:off x="6199632" y="2953512"/>
            <a:ext cx="658368" cy="658368"/>
          </a:xfrm>
          <a:prstGeom prst="ellipse">
            <a:avLst/>
          </a:prstGeom>
          <a:solidFill>
            <a:srgbClr val="00A8CC"/>
          </a:solidFill>
        </p:spPr>
      </p:sp>
      <p:pic>
        <p:nvPicPr>
          <p:cNvPr id="26" name="Image 5" descr="/home/claude/analog-digital/icon_stethoscop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5220" y="3039100"/>
            <a:ext cx="487192" cy="48719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040880" y="2935224"/>
            <a:ext cx="4599432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Digital medical imaging</a:t>
            </a:r>
            <a:endParaRPr lang="en-US" b="1" dirty="0">
              <a:solidFill>
                <a:srgbClr val="1E2761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8" name="Text 20"/>
          <p:cNvSpPr/>
          <p:nvPr/>
        </p:nvSpPr>
        <p:spPr>
          <a:xfrm>
            <a:off x="7040880" y="3246120"/>
            <a:ext cx="4599432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5A6B87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CT, MRI, and digital X-ray produce precise, analyzable pixel data.</a:t>
            </a:r>
            <a:endParaRPr lang="en-US" sz="1600" dirty="0">
              <a:solidFill>
                <a:srgbClr val="5A6B87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9" name="Shape 21"/>
          <p:cNvSpPr/>
          <p:nvPr/>
        </p:nvSpPr>
        <p:spPr>
          <a:xfrm>
            <a:off x="6199632" y="4032504"/>
            <a:ext cx="658368" cy="658368"/>
          </a:xfrm>
          <a:prstGeom prst="ellipse">
            <a:avLst/>
          </a:prstGeom>
          <a:solidFill>
            <a:srgbClr val="00A8CC"/>
          </a:solidFill>
        </p:spPr>
      </p:sp>
      <p:pic>
        <p:nvPicPr>
          <p:cNvPr id="30" name="Image 6" descr="/home/claude/analog-digital/icon_satell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5220" y="4118092"/>
            <a:ext cx="487192" cy="48719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040880" y="4014216"/>
            <a:ext cx="4599432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Satellite &amp; remote sensing</a:t>
            </a:r>
            <a:endParaRPr lang="en-US" b="1" dirty="0">
              <a:solidFill>
                <a:srgbClr val="1E2761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32" name="Text 23"/>
          <p:cNvSpPr/>
          <p:nvPr/>
        </p:nvSpPr>
        <p:spPr>
          <a:xfrm>
            <a:off x="7040880" y="4325112"/>
            <a:ext cx="4599432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Earth observation imagery captured and processed digitally.</a:t>
            </a:r>
            <a:endParaRPr lang="en-US" sz="1600" dirty="0">
              <a:solidFill>
                <a:srgbClr val="5A6B8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3" name="Shape 24"/>
          <p:cNvSpPr/>
          <p:nvPr/>
        </p:nvSpPr>
        <p:spPr>
          <a:xfrm>
            <a:off x="6199632" y="5111496"/>
            <a:ext cx="658368" cy="658368"/>
          </a:xfrm>
          <a:prstGeom prst="ellipse">
            <a:avLst/>
          </a:prstGeom>
          <a:solidFill>
            <a:srgbClr val="00A8CC"/>
          </a:solidFill>
        </p:spPr>
      </p:sp>
      <p:pic>
        <p:nvPicPr>
          <p:cNvPr id="34" name="Image 7" descr="/home/claude/analog-digital/icon_robo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5220" y="5197084"/>
            <a:ext cx="487192" cy="487192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7040880" y="5093208"/>
            <a:ext cx="4599432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Computer vision &amp; AI</a:t>
            </a:r>
            <a:endParaRPr lang="en-US" b="1" dirty="0">
              <a:solidFill>
                <a:srgbClr val="1E2761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36" name="Text 26"/>
          <p:cNvSpPr/>
          <p:nvPr/>
        </p:nvSpPr>
        <p:spPr>
          <a:xfrm>
            <a:off x="7040880" y="5404104"/>
            <a:ext cx="4599432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5A6B87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Machine learning systems that analyze and classify pixel data.</a:t>
            </a:r>
            <a:endParaRPr lang="en-US" sz="1600" dirty="0">
              <a:solidFill>
                <a:srgbClr val="5A6B87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37" name="Text 2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AA7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Lenin K   |   B.Tech Information Technology</a:t>
            </a:r>
            <a:endParaRPr lang="en-US" sz="1000" dirty="0"/>
          </a:p>
        </p:txBody>
      </p:sp>
      <p:sp>
        <p:nvSpPr>
          <p:cNvPr id="38" name="Text 28"/>
          <p:cNvSpPr/>
          <p:nvPr/>
        </p:nvSpPr>
        <p:spPr>
          <a:xfrm>
            <a:off x="11612880" y="652881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7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008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Conclusion</a:t>
            </a:r>
            <a:endParaRPr lang="en-US" sz="3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58368" y="1709928"/>
            <a:ext cx="100584" cy="100584"/>
          </a:xfrm>
          <a:prstGeom prst="ellipse">
            <a:avLst/>
          </a:prstGeom>
          <a:solidFill>
            <a:srgbClr val="E8871E"/>
          </a:solidFill>
        </p:spPr>
      </p:sp>
      <p:sp>
        <p:nvSpPr>
          <p:cNvPr id="4" name="Text 2"/>
          <p:cNvSpPr/>
          <p:nvPr/>
        </p:nvSpPr>
        <p:spPr>
          <a:xfrm>
            <a:off x="914400" y="1600200"/>
            <a:ext cx="722376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Analog images offer a naturally continuous representation but degrade over time and resist easy processing.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58368" y="2423160"/>
            <a:ext cx="100584" cy="100584"/>
          </a:xfrm>
          <a:prstGeom prst="ellipse">
            <a:avLst/>
          </a:prstGeom>
          <a:solidFill>
            <a:srgbClr val="00A8CC"/>
          </a:solidFill>
        </p:spPr>
      </p:sp>
      <p:sp>
        <p:nvSpPr>
          <p:cNvPr id="6" name="Text 4"/>
          <p:cNvSpPr/>
          <p:nvPr/>
        </p:nvSpPr>
        <p:spPr>
          <a:xfrm>
            <a:off x="914400" y="2313432"/>
            <a:ext cx="722376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Digital images provide a discrete, processable, and durable representation suited to the modern computing era.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58368" y="3136392"/>
            <a:ext cx="100584" cy="100584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8" name="Text 6"/>
          <p:cNvSpPr/>
          <p:nvPr/>
        </p:nvSpPr>
        <p:spPr>
          <a:xfrm>
            <a:off x="914400" y="3026664"/>
            <a:ext cx="722376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The shift from analog to digital has transformed how visual information is captured, stored, and analyzed.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94360" y="4563110"/>
            <a:ext cx="7635240" cy="1234440"/>
          </a:xfrm>
          <a:prstGeom prst="rect">
            <a:avLst/>
          </a:prstGeom>
          <a:solidFill>
            <a:srgbClr val="263876"/>
          </a:solidFill>
        </p:spPr>
      </p:sp>
      <p:sp>
        <p:nvSpPr>
          <p:cNvPr id="10" name="Text 8"/>
          <p:cNvSpPr/>
          <p:nvPr/>
        </p:nvSpPr>
        <p:spPr>
          <a:xfrm>
            <a:off x="822960" y="4533900"/>
            <a:ext cx="708660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i="1" dirty="0">
                <a:solidFill>
                  <a:srgbClr val="FFFFFF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Digital imaging now dominates nearly every application — yet understanding analog principles remains fundamental to image processing.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9189720" y="2377440"/>
            <a:ext cx="2331720" cy="2331720"/>
          </a:xfrm>
          <a:prstGeom prst="ellipse">
            <a:avLst/>
          </a:prstGeom>
          <a:solidFill>
            <a:srgbClr val="263876"/>
          </a:solidFill>
        </p:spPr>
      </p:sp>
      <p:sp>
        <p:nvSpPr>
          <p:cNvPr id="12" name="Shape 10"/>
          <p:cNvSpPr/>
          <p:nvPr/>
        </p:nvSpPr>
        <p:spPr>
          <a:xfrm>
            <a:off x="8732520" y="2926080"/>
            <a:ext cx="1417320" cy="1417320"/>
          </a:xfrm>
          <a:prstGeom prst="ellipse">
            <a:avLst/>
          </a:prstGeom>
          <a:solidFill>
            <a:srgbClr val="E8871E"/>
          </a:solidFill>
        </p:spPr>
      </p:sp>
      <p:pic>
        <p:nvPicPr>
          <p:cNvPr id="13" name="Image 0" descr="/home/claude/analog-digital/icon_wav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6772" y="3110332"/>
            <a:ext cx="1048817" cy="1048817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10195560" y="4206240"/>
            <a:ext cx="1417320" cy="1417320"/>
          </a:xfrm>
          <a:prstGeom prst="ellipse">
            <a:avLst/>
          </a:prstGeom>
          <a:solidFill>
            <a:srgbClr val="00A8CC"/>
          </a:solidFill>
        </p:spPr>
      </p:sp>
      <p:pic>
        <p:nvPicPr>
          <p:cNvPr id="15" name="Image 1" descr="/home/claude/analog-digital/icon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9812" y="4390492"/>
            <a:ext cx="1048817" cy="104881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FA3C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Lenin K   |   B.Tech Information Technology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1612880" y="652881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C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4669</Words>
  <Application>WPS Presentation</Application>
  <PresentationFormat>On-screen Show (16:9)</PresentationFormat>
  <Paragraphs>246</Paragraphs>
  <Slides>8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2" baseType="lpstr">
      <vt:lpstr>Arial</vt:lpstr>
      <vt:lpstr>SimSun</vt:lpstr>
      <vt:lpstr>Wingdings</vt:lpstr>
      <vt:lpstr>Times New Roman</vt:lpstr>
      <vt:lpstr>Calibri</vt:lpstr>
      <vt:lpstr>Cambria</vt:lpstr>
      <vt:lpstr>Calibri</vt:lpstr>
      <vt:lpstr>Calibri</vt:lpstr>
      <vt:lpstr>Cambria</vt:lpstr>
      <vt:lpstr>Cambria</vt:lpstr>
      <vt:lpstr>Microsoft YaHei</vt:lpstr>
      <vt:lpstr>Arial Unicode MS</vt:lpstr>
      <vt:lpstr>Arial Black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LENIN K</cp:lastModifiedBy>
  <cp:revision>6</cp:revision>
  <dcterms:created xsi:type="dcterms:W3CDTF">2026-07-14T03:42:00Z</dcterms:created>
  <dcterms:modified xsi:type="dcterms:W3CDTF">2026-07-14T06:28:20Z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7834CCFB12BB49A586D1767E6C580CD0_12</vt:lpwstr>
  </property>
  <property fmtid="{D5CDD505-2E9C-101B-9397-08002B2CF9AE}" pid="3" name="KSOProductBuildVer">
    <vt:lpwstr>1033-12.1.0.26880</vt:lpwstr>
  </property>
</Properties>
</file>